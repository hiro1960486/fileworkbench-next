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80c7ec58cf4b46" /><Relationship Type="http://schemas.openxmlformats.org/officeDocument/2006/relationships/extended-properties" Target="/docProps/app.xml" Id="R76f76366e2fb47df" /><Relationship Type="http://schemas.openxmlformats.org/officeDocument/2006/relationships/officeDocument" Target="/ppt/presentation.xml" Id="R7128cc37a4af43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289ea1166344a9"/>
  </p:sldMasterIdLst>
  <p:notesMasterIdLst>
    <p:notesMasterId xmlns:r="http://schemas.openxmlformats.org/officeDocument/2006/relationships" r:id="Rf144d44513f547db"/>
  </p:notesMasterIdLst>
  <p:sldIdLst>
    <p:sldId xmlns:r="http://schemas.openxmlformats.org/officeDocument/2006/relationships" id="256" r:id="Rb0c542a65bdc4a81"/>
    <p:sldId xmlns:r="http://schemas.openxmlformats.org/officeDocument/2006/relationships" id="257" r:id="R4e08ecf7fadd483f"/>
    <p:sldId xmlns:r="http://schemas.openxmlformats.org/officeDocument/2006/relationships" id="258" r:id="R643cbbf99a8f47a6"/>
    <p:sldId xmlns:r="http://schemas.openxmlformats.org/officeDocument/2006/relationships" id="259" r:id="Re27ffa55e6c345dd"/>
    <p:sldId xmlns:r="http://schemas.openxmlformats.org/officeDocument/2006/relationships" id="260" r:id="Ra98998b34f714879"/>
    <p:sldId xmlns:r="http://schemas.openxmlformats.org/officeDocument/2006/relationships" id="261" r:id="R984d9ba702b04d49"/>
    <p:sldId xmlns:r="http://schemas.openxmlformats.org/officeDocument/2006/relationships" id="262" r:id="R6b05f607584e4ef6"/>
    <p:sldId xmlns:r="http://schemas.openxmlformats.org/officeDocument/2006/relationships" id="263" r:id="R2d449e69af424fbd"/>
    <p:sldId xmlns:r="http://schemas.openxmlformats.org/officeDocument/2006/relationships" id="264" r:id="R153a58e6a5b44c5d"/>
    <p:sldId xmlns:r="http://schemas.openxmlformats.org/officeDocument/2006/relationships" id="265" r:id="Rb5d3089038254e41"/>
    <p:sldId xmlns:r="http://schemas.openxmlformats.org/officeDocument/2006/relationships" id="266" r:id="R851ff6f811c846f8"/>
    <p:sldId xmlns:r="http://schemas.openxmlformats.org/officeDocument/2006/relationships" id="267" r:id="Rf44dd647566d468b"/>
    <p:sldId xmlns:r="http://schemas.openxmlformats.org/officeDocument/2006/relationships" id="268" r:id="R64b6a57ac8314eb5"/>
    <p:sldId xmlns:r="http://schemas.openxmlformats.org/officeDocument/2006/relationships" id="269" r:id="R3ec6087f5c16400d"/>
    <p:sldId xmlns:r="http://schemas.openxmlformats.org/officeDocument/2006/relationships" id="270" r:id="R2de512bb9df641f7"/>
    <p:sldId xmlns:r="http://schemas.openxmlformats.org/officeDocument/2006/relationships" id="271" r:id="R95f38bc361c148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e8b65ca6c04278" /><Relationship Type="http://schemas.openxmlformats.org/officeDocument/2006/relationships/slideMaster" Target="/ppt/slideMasters/slideMaster1.xml" Id="Rec289ea1166344a9" /><Relationship Type="http://schemas.openxmlformats.org/officeDocument/2006/relationships/notesMaster" Target="/ppt/notesMasters/notesMaster1.xml" Id="Rf144d44513f547db" /><Relationship Type="http://schemas.openxmlformats.org/officeDocument/2006/relationships/presProps" Target="/ppt/presProps.xml" Id="R34c4c023683e4177" /><Relationship Type="http://schemas.openxmlformats.org/officeDocument/2006/relationships/tableStyles" Target="/ppt/tableStyles.xml" Id="R7c9855fed28547c5" /><Relationship Type="http://schemas.openxmlformats.org/officeDocument/2006/relationships/slide" Target="/ppt/slides/slide1.xml" Id="Rb0c542a65bdc4a81" /><Relationship Type="http://schemas.openxmlformats.org/officeDocument/2006/relationships/slide" Target="/ppt/slides/slide2.xml" Id="R4e08ecf7fadd483f" /><Relationship Type="http://schemas.openxmlformats.org/officeDocument/2006/relationships/slide" Target="/ppt/slides/slide3.xml" Id="R643cbbf99a8f47a6" /><Relationship Type="http://schemas.openxmlformats.org/officeDocument/2006/relationships/slide" Target="/ppt/slides/slide4.xml" Id="Re27ffa55e6c345dd" /><Relationship Type="http://schemas.openxmlformats.org/officeDocument/2006/relationships/slide" Target="/ppt/slides/slide5.xml" Id="Ra98998b34f714879" /><Relationship Type="http://schemas.openxmlformats.org/officeDocument/2006/relationships/slide" Target="/ppt/slides/slide6.xml" Id="R984d9ba702b04d49" /><Relationship Type="http://schemas.openxmlformats.org/officeDocument/2006/relationships/slide" Target="/ppt/slides/slide7.xml" Id="R6b05f607584e4ef6" /><Relationship Type="http://schemas.openxmlformats.org/officeDocument/2006/relationships/slide" Target="/ppt/slides/slide8.xml" Id="R2d449e69af424fbd" /><Relationship Type="http://schemas.openxmlformats.org/officeDocument/2006/relationships/slide" Target="/ppt/slides/slide9.xml" Id="R153a58e6a5b44c5d" /><Relationship Type="http://schemas.openxmlformats.org/officeDocument/2006/relationships/slide" Target="/ppt/slides/slide10.xml" Id="Rb5d3089038254e41" /><Relationship Type="http://schemas.openxmlformats.org/officeDocument/2006/relationships/slide" Target="/ppt/slides/slide11.xml" Id="R851ff6f811c846f8" /><Relationship Type="http://schemas.openxmlformats.org/officeDocument/2006/relationships/slide" Target="/ppt/slides/slide12.xml" Id="Rf44dd647566d468b" /><Relationship Type="http://schemas.openxmlformats.org/officeDocument/2006/relationships/slide" Target="/ppt/slides/slide13.xml" Id="R64b6a57ac8314eb5" /><Relationship Type="http://schemas.openxmlformats.org/officeDocument/2006/relationships/slide" Target="/ppt/slides/slide14.xml" Id="R3ec6087f5c16400d" /><Relationship Type="http://schemas.openxmlformats.org/officeDocument/2006/relationships/slide" Target="/ppt/slides/slide15.xml" Id="R2de512bb9df641f7" /><Relationship Type="http://schemas.openxmlformats.org/officeDocument/2006/relationships/slide" Target="/ppt/slides/slide16.xml" Id="R95f38bc361c148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9cffd6eea641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8136c9aaca4cf2" /><Relationship Type="http://schemas.openxmlformats.org/officeDocument/2006/relationships/notesMaster" Target="/ppt/notesMasters/notesMaster1.xml" Id="R92c71f081a9041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bdb3e227d64c31" /><Relationship Type="http://schemas.openxmlformats.org/officeDocument/2006/relationships/notesMaster" Target="/ppt/notesMasters/notesMaster1.xml" Id="R83a3a9e1950049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8d245ffc0d4511" /><Relationship Type="http://schemas.openxmlformats.org/officeDocument/2006/relationships/notesMaster" Target="/ppt/notesMasters/notesMaster1.xml" Id="Rbf0813c6f24340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70cfb570a2403a" /><Relationship Type="http://schemas.openxmlformats.org/officeDocument/2006/relationships/notesMaster" Target="/ppt/notesMasters/notesMaster1.xml" Id="Re81ecbb6afff4b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38a22f64d44502" /><Relationship Type="http://schemas.openxmlformats.org/officeDocument/2006/relationships/notesMaster" Target="/ppt/notesMasters/notesMaster1.xml" Id="R3cc0ef2b7ee445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ecbaf3046d410f" /><Relationship Type="http://schemas.openxmlformats.org/officeDocument/2006/relationships/notesMaster" Target="/ppt/notesMasters/notesMaster1.xml" Id="R63137694023b4e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d8db8b0cfe4106" /><Relationship Type="http://schemas.openxmlformats.org/officeDocument/2006/relationships/notesMaster" Target="/ppt/notesMasters/notesMaster1.xml" Id="R439be926de184d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70eb85b17f4444" /><Relationship Type="http://schemas.openxmlformats.org/officeDocument/2006/relationships/notesMaster" Target="/ppt/notesMasters/notesMaster1.xml" Id="Rb20fcfd24d8d40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c23af6da1f4dad" /><Relationship Type="http://schemas.openxmlformats.org/officeDocument/2006/relationships/notesMaster" Target="/ppt/notesMasters/notesMaster1.xml" Id="Rb614ff4bb66b43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eda5ee6d0c4359" /><Relationship Type="http://schemas.openxmlformats.org/officeDocument/2006/relationships/notesMaster" Target="/ppt/notesMasters/notesMaster1.xml" Id="R01c8d352431840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89be50bee74cea" /><Relationship Type="http://schemas.openxmlformats.org/officeDocument/2006/relationships/notesMaster" Target="/ppt/notesMasters/notesMaster1.xml" Id="R7d8b5092d80640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0ced4bc01048bb" /><Relationship Type="http://schemas.openxmlformats.org/officeDocument/2006/relationships/notesMaster" Target="/ppt/notesMasters/notesMaster1.xml" Id="R76f577c058664b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11d95a79494b2b" /><Relationship Type="http://schemas.openxmlformats.org/officeDocument/2006/relationships/notesMaster" Target="/ppt/notesMasters/notesMaster1.xml" Id="R0d8701eadecf48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2c1034a8a04410" /><Relationship Type="http://schemas.openxmlformats.org/officeDocument/2006/relationships/notesMaster" Target="/ppt/notesMasters/notesMaster1.xml" Id="R8d7a0f146e9e44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95a7cfe1054483" /><Relationship Type="http://schemas.openxmlformats.org/officeDocument/2006/relationships/notesMaster" Target="/ppt/notesMasters/notesMaster1.xml" Id="Rb8a689de062a47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2c243e9aab432c" /><Relationship Type="http://schemas.openxmlformats.org/officeDocument/2006/relationships/notesMaster" Target="/ppt/notesMasters/notesMaster1.xml" Id="R6489daee0bf946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https://github.com/hiro1960486/FileWorkbench-Next/tree/e876ead359957e48b0f7785a1b0b0b1ea60e3e0f</a:t>
            </a:r>
          </a:p>
          <a:p xmlns:a="http://schemas.openxmlformats.org/drawingml/2006/main">
            <a:r>
              <a:t>根拠: 現行ソース、DEVELOPER_GUIDE_3.3_RC.md、docs/release/DD_ROUTING_FIX_20261008.md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https://github.com/hiro1960486/FileWorkbench-Next/tree/e876ead359957e48b0f7785a1b0b0b1ea60e3e0f</a:t>
            </a:r>
          </a:p>
          <a:p xmlns:a="http://schemas.openxmlformats.org/drawingml/2006/main">
            <a:r>
              <a:t>根拠: 現行ソース、DEVELOPER_GUIDE_3.3_RC.md、docs/release/DD_ROUTING_FIX_20261008.md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https://github.com/hiro1960486/FileWorkbench-Next/tree/e876ead359957e48b0f7785a1b0b0b1ea60e3e0f</a:t>
            </a:r>
          </a:p>
          <a:p xmlns:a="http://schemas.openxmlformats.org/drawingml/2006/main">
            <a:r>
              <a:t>根拠: 現行ソース、DEVELOPER_GUIDE_3.3_RC.md、docs/release/DD_ROUTING_FIX_20261008.md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https://github.com/hiro1960486/FileWorkbench-Next/tree/e876ead359957e48b0f7785a1b0b0b1ea60e3e0f</a:t>
            </a:r>
          </a:p>
          <a:p xmlns:a="http://schemas.openxmlformats.org/drawingml/2006/main">
            <a:r>
              <a:t>根拠: 現行ソース、DEVELOPER_GUIDE_3.3_RC.md、docs/release/DD_ROUTING_FIX_20261008.md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https://github.com/hiro1960486/FileWorkbench-Next/tree/e876ead359957e48b0f7785a1b0b0b1ea60e3e0f</a:t>
            </a:r>
          </a:p>
          <a:p xmlns:a="http://schemas.openxmlformats.org/drawingml/2006/main">
            <a:r>
              <a:t>根拠: 現行ソース、DEVELOPER_GUIDE_3.3_RC.md、docs/release/DD_ROUTING_FIX_20261008.md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https://github.com/hiro1960486/FileWorkbench-Next/tree/e876ead359957e48b0f7785a1b0b0b1ea60e3e0f</a:t>
            </a:r>
          </a:p>
          <a:p xmlns:a="http://schemas.openxmlformats.org/drawingml/2006/main">
            <a:r>
              <a:t>根拠: 現行ソース、DEVELOPER_GUIDE_3.3_RC.md、docs/release/DD_ROUTING_FIX_20261008.md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https://github.com/hiro1960486/FileWorkbench-Next/tree/e876ead359957e48b0f7785a1b0b0b1ea60e3e0f</a:t>
            </a:r>
          </a:p>
          <a:p xmlns:a="http://schemas.openxmlformats.org/drawingml/2006/main">
            <a:r>
              <a:t>根拠: 現行ソース、DEVELOPER_GUIDE_3.3_RC.md、docs/release/DD_ROUTING_FIX_20261008.md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https://github.com/hiro1960486/FileWorkbench-Next/tree/e876ead359957e48b0f7785a1b0b0b1ea60e3e0f</a:t>
            </a:r>
          </a:p>
          <a:p xmlns:a="http://schemas.openxmlformats.org/drawingml/2006/main">
            <a:r>
              <a:t>根拠: 現行ソース、DEVELOPER_GUIDE_3.3_RC.md、docs/release/DD_ROUTING_FIX_20261008.md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https://github.com/hiro1960486/FileWorkbench-Next/tree/e876ead359957e48b0f7785a1b0b0b1ea60e3e0f</a:t>
            </a:r>
          </a:p>
          <a:p xmlns:a="http://schemas.openxmlformats.org/drawingml/2006/main">
            <a:r>
              <a:t>根拠: 現行ソース、DEVELOPER_GUIDE_3.3_RC.md、docs/release/DD_ROUTING_FIX_20261008.md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https://github.com/hiro1960486/FileWorkbench-Next/tree/e876ead359957e48b0f7785a1b0b0b1ea60e3e0f</a:t>
            </a:r>
          </a:p>
          <a:p xmlns:a="http://schemas.openxmlformats.org/drawingml/2006/main">
            <a:r>
              <a:t>根拠: 現行ソース、DEVELOPER_GUIDE_3.3_RC.md、docs/release/DD_ROUTING_FIX_20261008.md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https://github.com/hiro1960486/FileWorkbench-Next/tree/e876ead359957e48b0f7785a1b0b0b1ea60e3e0f</a:t>
            </a:r>
          </a:p>
          <a:p xmlns:a="http://schemas.openxmlformats.org/drawingml/2006/main">
            <a:r>
              <a:t>根拠: 現行ソース、DEVELOPER_GUIDE_3.3_RC.md、docs/release/DD_ROUTING_FIX_20261008.md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https://github.com/hiro1960486/FileWorkbench-Next/tree/e876ead359957e48b0f7785a1b0b0b1ea60e3e0f</a:t>
            </a:r>
          </a:p>
          <a:p xmlns:a="http://schemas.openxmlformats.org/drawingml/2006/main">
            <a:r>
              <a:t>根拠: 現行ソース、DEVELOPER_GUIDE_3.3_RC.md、docs/release/DD_ROUTING_FIX_20261008.md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https://github.com/hiro1960486/FileWorkbench-Next/tree/e876ead359957e48b0f7785a1b0b0b1ea60e3e0f</a:t>
            </a:r>
          </a:p>
          <a:p xmlns:a="http://schemas.openxmlformats.org/drawingml/2006/main">
            <a:r>
              <a:t>根拠: 現行ソース、DEVELOPER_GUIDE_3.3_RC.md、docs/release/DD_ROUTING_FIX_20261008.md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https://github.com/hiro1960486/FileWorkbench-Next/tree/e876ead359957e48b0f7785a1b0b0b1ea60e3e0f</a:t>
            </a:r>
          </a:p>
          <a:p xmlns:a="http://schemas.openxmlformats.org/drawingml/2006/main">
            <a:r>
              <a:t>根拠: 現行ソース、DEVELOPER_GUIDE_3.3_RC.md、docs/release/DD_ROUTING_FIX_20261008.md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https://github.com/hiro1960486/FileWorkbench-Next/tree/e876ead359957e48b0f7785a1b0b0b1ea60e3e0f</a:t>
            </a:r>
          </a:p>
          <a:p xmlns:a="http://schemas.openxmlformats.org/drawingml/2006/main">
            <a:r>
              <a:t>根拠: 現行ソース、DEVELOPER_GUIDE_3.3_RC.md、docs/release/DD_ROUTING_FIX_20261008.md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https://github.com/hiro1960486/FileWorkbench-Next/tree/e876ead359957e48b0f7785a1b0b0b1ea60e3e0f</a:t>
            </a:r>
          </a:p>
          <a:p xmlns:a="http://schemas.openxmlformats.org/drawingml/2006/main">
            <a:r>
              <a:t>根拠: 現行ソース、DEVELOPER_GUIDE_3.3_RC.md、docs/release/DD_ROUTING_FIX_20261008.md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c2421756c47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6120b2c85748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5687b25ce43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fc375f583f45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4a2ab48ff45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15f9bfbff4d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2AA4B1-CF0B-4807-A1F7-3F36B7BF2B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E7469F-23F8-4CFA-B7D1-11CA722B25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B09947-C608-4548-9427-256B59F306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CD6912-0319-429A-B137-4C3BFF9AD5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C3BB08-9E15-475D-90F7-B84EACC542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C8C5F3-FD19-4C8C-B5C6-CDD503565A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FA8D37-C19A-4BB7-A7A9-9408B57549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4620F9-A4B5-47D2-83CD-2C2935453B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A0DD17-9BC2-4EB0-BEF7-E86C650181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F227D2-A386-423C-8672-9AF0EC02D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623c7db76b46e2" /><Relationship Type="http://schemas.openxmlformats.org/officeDocument/2006/relationships/slideLayout" Target="/ppt/slideLayouts/slideLayout1.xml" Id="R9645567163ee42d6" /><Relationship Type="http://schemas.openxmlformats.org/officeDocument/2006/relationships/slideLayout" Target="/ppt/slideLayouts/slideLayout2.xml" Id="R21bd175f58564fff" /><Relationship Type="http://schemas.openxmlformats.org/officeDocument/2006/relationships/slideLayout" Target="/ppt/slideLayouts/slideLayout3.xml" Id="R779735411d3840f2" /><Relationship Type="http://schemas.openxmlformats.org/officeDocument/2006/relationships/slideLayout" Target="/ppt/slideLayouts/slideLayout4.xml" Id="R1f4561e0b5e6423b" /><Relationship Type="http://schemas.openxmlformats.org/officeDocument/2006/relationships/slideLayout" Target="/ppt/slideLayouts/slideLayout5.xml" Id="R6b280ad0bca04eae" /><Relationship Type="http://schemas.openxmlformats.org/officeDocument/2006/relationships/slideLayout" Target="/ppt/slideLayouts/slideLayout6.xml" Id="R8165241de33445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45567163ee42d6"/>
    <p:sldLayoutId xmlns:r="http://schemas.openxmlformats.org/officeDocument/2006/relationships" id="2147483650" r:id="R21bd175f58564fff"/>
    <p:sldLayoutId xmlns:r="http://schemas.openxmlformats.org/officeDocument/2006/relationships" id="2147483651" r:id="R779735411d3840f2"/>
    <p:sldLayoutId xmlns:r="http://schemas.openxmlformats.org/officeDocument/2006/relationships" id="2147483652" r:id="R1f4561e0b5e6423b"/>
    <p:sldLayoutId xmlns:r="http://schemas.openxmlformats.org/officeDocument/2006/relationships" id="2147483653" r:id="R6b280ad0bca04eae"/>
    <p:sldLayoutId xmlns:r="http://schemas.openxmlformats.org/officeDocument/2006/relationships" id="2147483654" r:id="R8165241de33445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cada48e9cc4dd4" /><Relationship Type="http://schemas.openxmlformats.org/officeDocument/2006/relationships/notesSlide" Target="/ppt/notesSlides/notesSlide1.xml" Id="Rb32e5603ff2042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13be4164834e8f" /><Relationship Type="http://schemas.openxmlformats.org/officeDocument/2006/relationships/notesSlide" Target="/ppt/notesSlides/notesSlide2.xml" Id="R2bc323e7ea8c41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7bfc4d3ac4623" /><Relationship Type="http://schemas.openxmlformats.org/officeDocument/2006/relationships/notesSlide" Target="/ppt/notesSlides/notesSlide3.xml" Id="Rd89a8be6809c40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c2247307f742ca" /><Relationship Type="http://schemas.openxmlformats.org/officeDocument/2006/relationships/notesSlide" Target="/ppt/notesSlides/notesSlide4.xml" Id="R9c9a493927194d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1879e87ff94483" /><Relationship Type="http://schemas.openxmlformats.org/officeDocument/2006/relationships/notesSlide" Target="/ppt/notesSlides/notesSlide5.xml" Id="Rc4fe889c09744a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3bc19377324e4b" /><Relationship Type="http://schemas.openxmlformats.org/officeDocument/2006/relationships/notesSlide" Target="/ppt/notesSlides/notesSlide6.xml" Id="Rd1a00077ca7047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5126e3b38b4d17" /><Relationship Type="http://schemas.openxmlformats.org/officeDocument/2006/relationships/notesSlide" Target="/ppt/notesSlides/notesSlide7.xml" Id="Rbdf8c4fbdb0543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75ef4b1de340a6" /><Relationship Type="http://schemas.openxmlformats.org/officeDocument/2006/relationships/notesSlide" Target="/ppt/notesSlides/notesSlide8.xml" Id="Re92017e3f6924b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dc86f13484209" /><Relationship Type="http://schemas.openxmlformats.org/officeDocument/2006/relationships/notesSlide" Target="/ppt/notesSlides/notesSlide9.xml" Id="Rfee70e0110a546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4ca9f8dcf14e2c" /><Relationship Type="http://schemas.openxmlformats.org/officeDocument/2006/relationships/notesSlide" Target="/ppt/notesSlides/notesSlide10.xml" Id="Re1ed29a0816a46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ba175e2cbc48f4" /><Relationship Type="http://schemas.openxmlformats.org/officeDocument/2006/relationships/notesSlide" Target="/ppt/notesSlides/notesSlide11.xml" Id="R564770a5580545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271acdf39f4d58" /><Relationship Type="http://schemas.openxmlformats.org/officeDocument/2006/relationships/notesSlide" Target="/ppt/notesSlides/notesSlide12.xml" Id="Rfb2a07be0c6e43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bb2f57ee8544df" /><Relationship Type="http://schemas.openxmlformats.org/officeDocument/2006/relationships/notesSlide" Target="/ppt/notesSlides/notesSlide13.xml" Id="R3e02fc43f00049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21a20be1e94236" /><Relationship Type="http://schemas.openxmlformats.org/officeDocument/2006/relationships/notesSlide" Target="/ppt/notesSlides/notesSlide14.xml" Id="Rfa7f978bf38d41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4cd1da3b6a4eb4" /><Relationship Type="http://schemas.openxmlformats.org/officeDocument/2006/relationships/notesSlide" Target="/ppt/notesSlides/notesSlide15.xml" Id="R50cbf2bfda9040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b620f7c66d47a9" /><Relationship Type="http://schemas.openxmlformats.org/officeDocument/2006/relationships/notesSlide" Target="/ppt/notesSlides/notesSlide16.xml" Id="R1a686023e73848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8C0F6-BE9C-401D-BDE9-6DB61A74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6314A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6314A"/>
                </a:solidFill>
              </a:defRPr>
            </a:pPr>
            <a:r>
              <a:rPr sz="3600" b="1">
                <a:solidFill>
                  <a:srgbClr val="16314A"/>
                </a:solidFill>
              </a:rPr>
              <a:t>FileWorkbench Next 3.3 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DE6AF-2B5C-437D-98BC-39B071A7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開発者ガイド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2026年10月9日 更新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対象ソース: e876ead359957e48b0f7785a1b0b0b1ea60e3e0f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公開リポジトリ: hiro1960486/FileWorkbench-Next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正式版の受入確認は継続中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BF76C-6514-49A1-A52F-160EB723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FileWorkbench Next 3.3 RC    2026-10-09    1 / 16</a:t>
            </a:r>
          </a:p>
        </p:txBody>
      </p:sp>
    </p:spTree>
    <p:extLst>
      <p:ext uri="{BB962C8B-B14F-4D97-AF65-F5344CB8AC3E}">
        <p14:creationId xmlns:p14="http://schemas.microsoft.com/office/powerpoint/2010/main" val="1289159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B18AA-B01C-4F63-A664-0FE24B15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14A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14A"/>
                </a:solidFill>
              </a:defRPr>
            </a:pPr>
            <a:r>
              <a:rPr sz="3000" b="1">
                <a:solidFill>
                  <a:srgbClr val="16314A"/>
                </a:solidFill>
              </a:rPr>
              <a:t>対象版と旧資料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77FF7-D752-4D71-B4E8-26A71D63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現行版は tree / rename / preview / compare / hash / recycle の6機能。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3.2.2開発者資料は docs/archive に原本を保存。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旧資料の8モジュール構成やServices引数付きI/Fは現行に適用しない。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履歴やプリセット関連処理の存在と、独立モジュールの登録は区別する。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3021F-9211-46E8-B7ED-EE14D07A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FileWorkbench Next 3.3 RC    2026-10-09    2 / 16</a:t>
            </a:r>
          </a:p>
        </p:txBody>
      </p:sp>
    </p:spTree>
    <p:extLst>
      <p:ext uri="{BB962C8B-B14F-4D97-AF65-F5344CB8AC3E}">
        <p14:creationId xmlns:p14="http://schemas.microsoft.com/office/powerpoint/2010/main" val="6791005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EE536-ACD9-4268-8E2F-24AAF2B9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14A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14A"/>
                </a:solidFill>
              </a:defRPr>
            </a:pPr>
            <a:r>
              <a:rPr sz="3000" b="1">
                <a:solidFill>
                  <a:srgbClr val="16314A"/>
                </a:solidFill>
              </a:rPr>
              <a:t>起動・試験・ビルド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FE21C-BA09-4656-BF34-B264109E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初回: scripts/setup_environment.bat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通常: start_app.bat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開発・保守: developer_mode.bat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単体: run_module.bat tree（ほか5つのIDも指定可能）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試験: scripts/run_tests.bat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配布作成: scripts/build_release.bat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CB753-4357-478B-8A5D-AC405CB3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FileWorkbench Next 3.3 RC    2026-10-09    3 / 16</a:t>
            </a:r>
          </a:p>
        </p:txBody>
      </p:sp>
    </p:spTree>
    <p:extLst>
      <p:ext uri="{BB962C8B-B14F-4D97-AF65-F5344CB8AC3E}">
        <p14:creationId xmlns:p14="http://schemas.microsoft.com/office/powerpoint/2010/main" val="13857864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3041C-562F-4DAC-B5B5-158F509C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14A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14A"/>
                </a:solidFill>
              </a:defRPr>
            </a:pPr>
            <a:r>
              <a:rPr sz="3000" b="1">
                <a:solidFill>
                  <a:srgbClr val="16314A"/>
                </a:solidFill>
              </a:rPr>
              <a:t>検証環境と成果物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A9CA2-195F-45C2-9958-88E582A0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Windows Server 2022 / Python 3.12.10 x64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PySide6 6.8.3 / PyInstaller 6.22.3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Send2Trash 1.8.3 / openpyxl 3.1.5 / pywin32 &gt;=306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EXE: dist/FileWorkbench_Next.exe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ZIP: release/FileWorkbench_Next_3.3_RC_Windows_x64.zip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記録: build.log / release/exe-smoke.json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A8012-189F-423D-A441-E6BF41BE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FileWorkbench Next 3.3 RC    2026-10-09    4 / 16</a:t>
            </a:r>
          </a:p>
        </p:txBody>
      </p:sp>
    </p:spTree>
    <p:extLst>
      <p:ext uri="{BB962C8B-B14F-4D97-AF65-F5344CB8AC3E}">
        <p14:creationId xmlns:p14="http://schemas.microsoft.com/office/powerpoint/2010/main" val="1734363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0B659-A2E4-4EAD-B83C-F85CF03F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14A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14A"/>
                </a:solidFill>
              </a:defRPr>
            </a:pPr>
            <a:r>
              <a:rPr sz="3000" b="1">
                <a:solidFill>
                  <a:srgbClr val="16314A"/>
                </a:solidFill>
              </a:rPr>
              <a:t>ソースの責務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87A9E-7694-49A3-891F-7806699C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app.py: 統合画面、ナビゲーション、モジュール配置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module_registry.py: 宣言の探索、I/F生成、読込失敗の表示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interfaces/: 契約、アダプター、イベントバス、対象の配送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modules/&lt;id&gt;/: module.py / interface.py / module.json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services/: ファイル操作、命名、ごみ箱、対象共有、再生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core/: 既存のツリー・比較・HASH等の再利用処理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40D71-D2D4-4645-8118-EA88F278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FileWorkbench Next 3.3 RC    2026-10-09    5 / 16</a:t>
            </a:r>
          </a:p>
        </p:txBody>
      </p:sp>
    </p:spTree>
    <p:extLst>
      <p:ext uri="{BB962C8B-B14F-4D97-AF65-F5344CB8AC3E}">
        <p14:creationId xmlns:p14="http://schemas.microsoft.com/office/powerpoint/2010/main" val="13487623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DF03E-AC73-4814-B717-6818F0D6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14A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14A"/>
                </a:solidFill>
              </a:defRPr>
            </a:pPr>
            <a:r>
              <a:rPr sz="3000" b="1">
                <a:solidFill>
                  <a:srgbClr val="16314A"/>
                </a:solidFill>
              </a:rPr>
              <a:t>モジュールの宣言と登録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F897A-8EBF-4F10-BFD1-3C09CD10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宣言は各モジュールフォルダーの module.json に置く。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IDとフォルダー名を一致させる。interface_entrypointからI/Fを読み込む。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&lt;Id&gt;Interface()を引数なしで生成し、descriptor一致を確認する。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標準表示順は MODULE_ORDER。新しいIDは追加分として後ろに並ぶ。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読込失敗はUnavailableModuleとして画面と保守診断に残す。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7306E-CFB7-4F56-8B09-EE67C3F4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FileWorkbench Next 3.3 RC    2026-10-09    6 / 16</a:t>
            </a:r>
          </a:p>
        </p:txBody>
      </p:sp>
    </p:spTree>
    <p:extLst>
      <p:ext uri="{BB962C8B-B14F-4D97-AF65-F5344CB8AC3E}">
        <p14:creationId xmlns:p14="http://schemas.microsoft.com/office/powerpoint/2010/main" val="1117393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B9B62-7E27-4039-B88C-D42EE204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14A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14A"/>
                </a:solidFill>
              </a:defRPr>
            </a:pPr>
            <a:r>
              <a:rPr sz="3000" b="1">
                <a:solidFill>
                  <a:srgbClr val="16314A"/>
                </a:solidFill>
              </a:rPr>
              <a:t>共通I/F契約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6CA88-0D00-4BD8-BE48-B48F031E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ModuleDescriptor: ID、版、入力、能力、コマンド、イベントの宣言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ModuleContext: selected_paths / working_directory / options / source_module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ModuleEvent: name / source / payload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ModulePort: create_widget / receive_context / current_context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execute / subscribe / shutdown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WidgetModuleAdapterがウィジェット生成と通知を仲介する。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C599E-0217-4155-BEB2-16F273FA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FileWorkbench Next 3.3 RC    2026-10-09    7 / 16</a:t>
            </a:r>
          </a:p>
        </p:txBody>
      </p:sp>
    </p:spTree>
    <p:extLst>
      <p:ext uri="{BB962C8B-B14F-4D97-AF65-F5344CB8AC3E}">
        <p14:creationId xmlns:p14="http://schemas.microsoft.com/office/powerpoint/2010/main" val="4034515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419B2-F4E7-4AA3-80B6-CD6E213B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14A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14A"/>
                </a:solidFill>
              </a:defRPr>
            </a:pPr>
            <a:r>
              <a:rPr sz="3000" b="1">
                <a:solidFill>
                  <a:srgbClr val="16314A"/>
                </a:solidFill>
              </a:rPr>
              <a:t>対象共有とイベント配送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7ECBB-94C8-4DCE-9E1A-F6BF8ECA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ContextRouterが共通対象と個別対象を管理する。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共有を有効にする前の個別状態を保存し、無効化時に戻す。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treeのselection.changedを共通対象へ反映する。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preview.requested / rename.requestedを対応するI/Fへ配送する。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移動・削除・リネーム前のfiles.will_changeでプレビューを解放する。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他モジュールのウィジェットを直接操作する連携は避ける。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24C2B-8457-4946-9247-60B081E2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FileWorkbench Next 3.3 RC    2026-10-09    8 / 16</a:t>
            </a:r>
          </a:p>
        </p:txBody>
      </p:sp>
    </p:spTree>
    <p:extLst>
      <p:ext uri="{BB962C8B-B14F-4D97-AF65-F5344CB8AC3E}">
        <p14:creationId xmlns:p14="http://schemas.microsoft.com/office/powerpoint/2010/main" val="10893959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195A9-CF87-49EA-B0DC-C9263037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14A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14A"/>
                </a:solidFill>
              </a:defRPr>
            </a:pPr>
            <a:r>
              <a:rPr sz="3000" b="1">
                <a:solidFill>
                  <a:srgbClr val="16314A"/>
                </a:solidFill>
              </a:rPr>
              <a:t>開発・保守画面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24562-C4A1-4439-98E3-0AAE61BE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組み込み試験: 統合に近いModuleBoxへ配置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単体ウィンドウ: 独立したI/Fとウィジェットを生成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契約試験: 独立I/Fで宣言一致、通知、未対応拒否、終了を確認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入力コンテキストJSON: 選択中のI/Fへ送信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保守診断: Python、OS、依存版、モジュール読込状態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診断・ログ保存: イベントを含むJSON。新規ファイルとして保存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9BD0E-A4E8-4C23-8EE1-D26EACA1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FileWorkbench Next 3.3 RC    2026-10-09    9 / 16</a:t>
            </a:r>
          </a:p>
        </p:txBody>
      </p:sp>
    </p:spTree>
    <p:extLst>
      <p:ext uri="{BB962C8B-B14F-4D97-AF65-F5344CB8AC3E}">
        <p14:creationId xmlns:p14="http://schemas.microsoft.com/office/powerpoint/2010/main" val="19472768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056B9-EB31-4D72-B025-39EFB39C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14A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14A"/>
                </a:solidFill>
              </a:defRPr>
            </a:pPr>
            <a:r>
              <a:rPr sz="3000" b="1">
                <a:solidFill>
                  <a:srgbClr val="16314A"/>
                </a:solidFill>
              </a:rPr>
              <a:t>HASHの入力経路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49CCC-268A-41C7-9033-66351D12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画面の対象欄とD&amp;Dはファイル・フォルダーを受け取る。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HashInterface.receive_contextの入力は現在フォルダーに限定する。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module.jsonのaccepted_inputsもfolderを宣言する。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画面の入力能力とI/F契約を同じものとして扱わない。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I/F例: HashInterface()、ModuleContext(selected_paths=[フォルダー])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9542F-C2F7-44E5-AFB3-80905AEF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FileWorkbench Next 3.3 RC    2026-10-09    10 / 16</a:t>
            </a:r>
          </a:p>
        </p:txBody>
      </p:sp>
    </p:spTree>
    <p:extLst>
      <p:ext uri="{BB962C8B-B14F-4D97-AF65-F5344CB8AC3E}">
        <p14:creationId xmlns:p14="http://schemas.microsoft.com/office/powerpoint/2010/main" val="1956432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3EA0D-A5B5-4106-9645-5D8BC3A3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14A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14A"/>
                </a:solidFill>
              </a:defRPr>
            </a:pPr>
            <a:r>
              <a:rPr sz="3000" b="1">
                <a:solidFill>
                  <a:srgbClr val="16314A"/>
                </a:solidFill>
              </a:rPr>
              <a:t>ごみ箱の検索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EECD7-83B8-4859-B669-05795D1C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services/recycle_bin.pyがWindows Shell.Applicationを使用する。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現在ユーザーのShellごみ箱を検索する。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名前・元の場所・削除日時等で一覧を絞り込む。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失敗はメッセージと状態欄に表示。取得件数と表示件数を分ける。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退避履歴の読込失敗がWindowsごみ箱検索を止めない。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クラウドWebごみ箱・NAS削除履歴の横断検索は未実装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1A232-7A1D-468C-B90B-63EA723F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FileWorkbench Next 3.3 RC    2026-10-09    11 / 16</a:t>
            </a:r>
          </a:p>
        </p:txBody>
      </p:sp>
    </p:spTree>
    <p:extLst>
      <p:ext uri="{BB962C8B-B14F-4D97-AF65-F5344CB8AC3E}">
        <p14:creationId xmlns:p14="http://schemas.microsoft.com/office/powerpoint/2010/main" val="9081015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7FAA8-343F-455E-9FC2-150A388E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14A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14A"/>
                </a:solidFill>
              </a:defRPr>
            </a:pPr>
            <a:r>
              <a:rPr sz="3000" b="1">
                <a:solidFill>
                  <a:srgbClr val="16314A"/>
                </a:solidFill>
              </a:rPr>
              <a:t>ごみ箱の復元と退避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49CF7-9743-4D19-842E-1B7EC84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I/Fのコマンドはsearch / restore。ごみ箱内プレビューは提供しない。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任意の既存フォルダーを復元先として指定できる。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元の場所がなく、復元先も未指定なら指定を求める。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同名はスキップまたは別名。Shellで.fwn_restore_*へ復元する。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コピーとfingerprint照合後も退避コピーを保持する。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失敗時も退避先を残し、その場所をエラーに表示する。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07A33-C56D-456C-B721-D336E3CA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FileWorkbench Next 3.3 RC    2026-10-09    12 / 16</a:t>
            </a:r>
          </a:p>
        </p:txBody>
      </p:sp>
    </p:spTree>
    <p:extLst>
      <p:ext uri="{BB962C8B-B14F-4D97-AF65-F5344CB8AC3E}">
        <p14:creationId xmlns:p14="http://schemas.microsoft.com/office/powerpoint/2010/main" val="76988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6A94A-D19C-4EDC-9150-39D946CA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14A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14A"/>
                </a:solidFill>
              </a:defRPr>
            </a:pPr>
            <a:r>
              <a:rPr sz="3000" b="1">
                <a:solidFill>
                  <a:srgbClr val="16314A"/>
                </a:solidFill>
              </a:rPr>
              <a:t>D&amp;DとPDFの修正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D5A9C-EADC-4BB6-A7F3-B0D5D893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PathEditでDragEnter、DragMove、Dropの受け取りを継続する。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フォルダー専用欄へファイルを置いた場合も親へ渡さず説明する。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一覧ビューポートとモジュール本体にもDragMove処理を加えた。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生成EXEでtree / hash / recycleの下部指定欄を確認した。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PDF終了時はclose、親の切離し、参照解放でロックを解放する。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ごみ箱用win32timezoneをPyInstallerのhidden-importへ追加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BEDAC-7B85-430F-83D2-15C50550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FileWorkbench Next 3.3 RC    2026-10-09    13 / 16</a:t>
            </a:r>
          </a:p>
        </p:txBody>
      </p:sp>
    </p:spTree>
    <p:extLst>
      <p:ext uri="{BB962C8B-B14F-4D97-AF65-F5344CB8AC3E}">
        <p14:creationId xmlns:p14="http://schemas.microsoft.com/office/powerpoint/2010/main" val="5169449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52FD4-A0A7-491D-A494-928C2E66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14A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14A"/>
                </a:solidFill>
              </a:defRPr>
            </a:pPr>
            <a:r>
              <a:rPr sz="3000" b="1">
                <a:solidFill>
                  <a:srgbClr val="16314A"/>
                </a:solidFill>
              </a:rPr>
              <a:t>試験結果と確認の境界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94DFC-2EF7-4ACA-AA90-B2446C4D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2026年10月8日のWindows自動試験57件が成功。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対象パターンはtest_module*.py。旧一体型のtest_app.pyは除外する。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生成EXEの起動、6モジュール、同梱資源を確認した。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実Windowsごみ箱検索と一覧表示、Qt D&amp;Dイベント配送も成功。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Explorerからの物理D&amp;D、ごみ箱復元の全操作、メディアの受入は継続。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自動試験の成功だけで正式版・全操作完了とはしない。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5A3AF-17AE-4976-8D5A-9A913E25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FileWorkbench Next 3.3 RC    2026-10-09    14 / 16</a:t>
            </a:r>
          </a:p>
        </p:txBody>
      </p:sp>
    </p:spTree>
    <p:extLst>
      <p:ext uri="{BB962C8B-B14F-4D97-AF65-F5344CB8AC3E}">
        <p14:creationId xmlns:p14="http://schemas.microsoft.com/office/powerpoint/2010/main" val="385244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A46EA-CB01-4C00-8722-5785377E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14A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14A"/>
                </a:solidFill>
              </a:defRPr>
            </a:pPr>
            <a:r>
              <a:rPr sz="3000" b="1">
                <a:solidFill>
                  <a:srgbClr val="16314A"/>
                </a:solidFill>
              </a:rPr>
              <a:t>ビルドと自己試験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05A7E-E839-48A0-BD63-5D78230E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build_windows.pyが依存導入、compileall、現行試験を実行する。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PyInstallerはonefile / noconsole。assets、docs、module.jsonを同梱。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生成EXEを--smoke-test REPORTで起動し、資源と読込状態を検証する。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--dd-self-testはQtイベント配送を追加する。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--recycle-self-testは試験用ファイルを実際にごみ箱へ移す。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最後のフラグは専用試験環境で使用し、通常起動に付けない。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C6179-194C-4EA2-AD03-8DA1CA8A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FileWorkbench Next 3.3 RC    2026-10-09    15 / 16</a:t>
            </a:r>
          </a:p>
        </p:txBody>
      </p:sp>
    </p:spTree>
    <p:extLst>
      <p:ext uri="{BB962C8B-B14F-4D97-AF65-F5344CB8AC3E}">
        <p14:creationId xmlns:p14="http://schemas.microsoft.com/office/powerpoint/2010/main" val="12935069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C62FA-228A-4D8C-9EF7-0B338205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14A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14A"/>
                </a:solidFill>
              </a:defRPr>
            </a:pPr>
            <a:r>
              <a:rPr sz="3000" b="1">
                <a:solidFill>
                  <a:srgbClr val="16314A"/>
                </a:solidFill>
              </a:rPr>
              <a:t>公開管理と次の受入確認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7F04B-00AA-4D62-9FED-D281CB10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公開先はFileWorkbench-Next。旧FileWorkbenchは別リポジトリ。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ソースとdocsをGit管理し、EXE・.venv・build・dist等は除外する。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EXE配布はReleasesで別管理。現時点では未登録。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Windows 11で下部欄・比較左右・切離し画面のD&amp;Dを確認する。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任意先復元、同名、元フォルダーなし、失敗時退避先を確認する。</a:t>
            </a:r>
          </a:p>
          <a:p xmlns:a="http://schemas.openxmlformats.org/drawingml/2006/main">
            <a:pPr>
              <a:defRPr sz="1950" b="0">
                <a:solidFill>
                  <a:srgbClr val="263746"/>
                </a:solidFill>
              </a:defRPr>
            </a:pPr>
            <a:r>
              <a:rPr sz="1950" b="0">
                <a:solidFill>
                  <a:srgbClr val="263746"/>
                </a:solidFill>
              </a:rPr>
              <a:t>PDF解放、音声・動画シーク、ライト／詳細リネームを受入確認する。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21A7D-0745-4FD8-86A1-37B4F343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FileWorkbench Next 3.3 RC    2026-10-09    16 / 16</a:t>
            </a:r>
          </a:p>
        </p:txBody>
      </p:sp>
    </p:spTree>
    <p:extLst>
      <p:ext uri="{BB962C8B-B14F-4D97-AF65-F5344CB8AC3E}">
        <p14:creationId xmlns:p14="http://schemas.microsoft.com/office/powerpoint/2010/main" val="497549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2026-10-08T17:34:37.0320000Z</dcterms:created>
  <dcterms:modified xsi:type="dcterms:W3CDTF">2026-10-08T17:34:37.0320000Z</dcterms:modified>
</coreProperties>
</file>